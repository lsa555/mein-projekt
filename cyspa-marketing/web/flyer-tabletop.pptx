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Flyer Seite 1. Quelle: cyspa-marketing/web/flyer-tabletop.md. Offene Punkte: Ablauf und «½ Tag, rund 90 Minuten» durch IR-Owner bestätigen; helle Logovariante freigeben; Vektorlogo.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Flyer Seite 2. Platzhalter vor dem Druck füllen (siehe flyer-tabletop.md). Schriften: Cambria (Headlines, Serif wie CISO-Flyer) und Calibri (Text), CI v3 für PPTX.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ntergrund Navy mit feinem Ra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2088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82880" cy="374904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" y="603504"/>
            <a:ext cx="347472" cy="2743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88720" y="5486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TABLETOP-ÜBUNG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2296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Plan ist eine Hypothese.</a:t>
            </a:r>
            <a:endParaRPr lang="en-US" sz="2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Übung ist ihr </a:t>
            </a:r>
            <a:pPr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85800" y="1755648"/>
            <a:ext cx="594360" cy="3200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920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entscheidet, wenn es ernst wird? Die Tabletop-Übung für Ihre Geschäftsleitung.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414016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Samstag, 06:40 Uhr. Die Dateiserver sind verschlüsselt, die Produktion steht. Eine Tabletop-Übung zeigt Ihrer Führungsrunde, ob die Antwort auf diese Frage feststeht, bevor der Ernstfall sie stellt.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63440" y="411480"/>
            <a:ext cx="2240280" cy="2834640"/>
          </a:xfrm>
          <a:prstGeom prst="roundRect">
            <a:avLst>
              <a:gd name="adj" fmla="val 2449"/>
            </a:avLst>
          </a:prstGeom>
          <a:solidFill>
            <a:srgbClr val="143762"/>
          </a:solidFill>
          <a:ln w="12700">
            <a:solidFill>
              <a:srgbClr val="2B4C78"/>
            </a:solidFill>
            <a:prstDash val="solid"/>
          </a:ln>
        </p:spPr>
      </p:sp>
      <p:pic>
        <p:nvPicPr>
          <p:cNvPr id="11" name="Image 1" descr="CYSPA Cyber Security Partner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80" y="576072"/>
            <a:ext cx="914400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10698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ENTSCHEIDET JETZT WAS?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800600" y="136245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spc="3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SAMSTAG, 06:40 UHR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4818888" y="1655064"/>
            <a:ext cx="932688" cy="640080"/>
          </a:xfrm>
          <a:prstGeom prst="rect">
            <a:avLst/>
          </a:prstGeom>
          <a:solidFill>
            <a:srgbClr val="0F2B4D"/>
          </a:solidFill>
          <a:ln w="15875">
            <a:solidFill>
              <a:srgbClr val="FFC000"/>
            </a:solidFill>
            <a:prstDash val="solid"/>
          </a:ln>
        </p:spPr>
      </p:sp>
      <p:pic>
        <p:nvPicPr>
          <p:cNvPr id="15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17282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818888" y="2075688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BEFUGNISSE</a:t>
            </a:r>
            <a:endParaRPr lang="en-US" sz="650" dirty="0"/>
          </a:p>
        </p:txBody>
      </p:sp>
      <p:sp>
        <p:nvSpPr>
          <p:cNvPr id="17" name="Shape 12"/>
          <p:cNvSpPr/>
          <p:nvPr/>
        </p:nvSpPr>
        <p:spPr>
          <a:xfrm>
            <a:off x="5815584" y="1655064"/>
            <a:ext cx="932688" cy="640080"/>
          </a:xfrm>
          <a:prstGeom prst="rect">
            <a:avLst/>
          </a:prstGeom>
          <a:solidFill>
            <a:srgbClr val="0F2B4D"/>
          </a:solidFill>
          <a:ln w="9525">
            <a:solidFill>
              <a:srgbClr val="2B4C78"/>
            </a:solidFill>
            <a:prstDash val="solid"/>
          </a:ln>
        </p:spPr>
      </p:sp>
      <p:pic>
        <p:nvPicPr>
          <p:cNvPr id="18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5624" y="1728216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815584" y="2075688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</a:t>
            </a:r>
            <a:endParaRPr lang="en-US" sz="650" dirty="0"/>
          </a:p>
        </p:txBody>
      </p:sp>
      <p:sp>
        <p:nvSpPr>
          <p:cNvPr id="20" name="Shape 14"/>
          <p:cNvSpPr/>
          <p:nvPr/>
        </p:nvSpPr>
        <p:spPr>
          <a:xfrm>
            <a:off x="4818888" y="2359152"/>
            <a:ext cx="932688" cy="640080"/>
          </a:xfrm>
          <a:prstGeom prst="rect">
            <a:avLst/>
          </a:prstGeom>
          <a:solidFill>
            <a:srgbClr val="0F2B4D"/>
          </a:solidFill>
          <a:ln w="9525">
            <a:solidFill>
              <a:srgbClr val="2B4C78"/>
            </a:solidFill>
            <a:prstDash val="solid"/>
          </a:ln>
        </p:spPr>
      </p:sp>
      <p:pic>
        <p:nvPicPr>
          <p:cNvPr id="21" name="Image 4" descr="Symb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928" y="243230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818888" y="2779776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MELDEFRISTEN</a:t>
            </a:r>
            <a:endParaRPr lang="en-US" sz="650" dirty="0"/>
          </a:p>
        </p:txBody>
      </p:sp>
      <p:sp>
        <p:nvSpPr>
          <p:cNvPr id="23" name="Shape 16"/>
          <p:cNvSpPr/>
          <p:nvPr/>
        </p:nvSpPr>
        <p:spPr>
          <a:xfrm>
            <a:off x="5815584" y="2359152"/>
            <a:ext cx="932688" cy="640080"/>
          </a:xfrm>
          <a:prstGeom prst="rect">
            <a:avLst/>
          </a:prstGeom>
          <a:solidFill>
            <a:srgbClr val="0F2B4D"/>
          </a:solidFill>
          <a:ln w="9525">
            <a:solidFill>
              <a:srgbClr val="2B4C78"/>
            </a:solidFill>
            <a:prstDash val="solid"/>
          </a:ln>
        </p:spPr>
      </p:sp>
      <p:pic>
        <p:nvPicPr>
          <p:cNvPr id="24" name="Image 5" descr="Symb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5624" y="2432304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815584" y="2779776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DIENSTLEISTER</a:t>
            </a:r>
            <a:endParaRPr lang="en-US" sz="650" dirty="0"/>
          </a:p>
        </p:txBody>
      </p:sp>
      <p:sp>
        <p:nvSpPr>
          <p:cNvPr id="26" name="Text 18"/>
          <p:cNvSpPr txBox="1"/>
          <p:nvPr/>
        </p:nvSpPr>
        <p:spPr>
          <a:xfrm>
            <a:off x="4709160" y="3026664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GETESTET WIRD DIE ORGANISATION</a:t>
            </a:r>
            <a:endParaRPr lang="en-US" sz="650" dirty="0"/>
          </a:p>
        </p:txBody>
      </p:sp>
      <p:sp>
        <p:nvSpPr>
          <p:cNvPr id="27" name="Shape 19"/>
          <p:cNvSpPr/>
          <p:nvPr/>
        </p:nvSpPr>
        <p:spPr>
          <a:xfrm>
            <a:off x="685800" y="3429000"/>
            <a:ext cx="198424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868680" y="3429000"/>
            <a:ext cx="457200" cy="365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841248" y="3657600"/>
            <a:ext cx="420624" cy="420624"/>
          </a:xfrm>
          <a:prstGeom prst="ellipse">
            <a:avLst/>
          </a:prstGeom>
          <a:solidFill>
            <a:srgbClr val="103157"/>
          </a:solidFill>
          <a:ln w="12700">
            <a:solidFill>
              <a:srgbClr val="103157"/>
            </a:solidFill>
            <a:prstDash val="solid"/>
          </a:ln>
        </p:spPr>
      </p:sp>
      <p:pic>
        <p:nvPicPr>
          <p:cNvPr id="30" name="Image 6" descr="Symbo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" y="3758184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344168" y="3630168"/>
            <a:ext cx="1252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Erkenntnisliste mit Verantwortlichen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841248" y="4206240"/>
            <a:ext cx="1673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Lücke hat einen Namen und einen nächsten Schritt.</a:t>
            </a:r>
            <a:endParaRPr lang="en-US" sz="900" dirty="0"/>
          </a:p>
        </p:txBody>
      </p:sp>
      <p:sp>
        <p:nvSpPr>
          <p:cNvPr id="33" name="Shape 24"/>
          <p:cNvSpPr/>
          <p:nvPr/>
        </p:nvSpPr>
        <p:spPr>
          <a:xfrm>
            <a:off x="2807208" y="3429000"/>
            <a:ext cx="198424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2990088" y="3429000"/>
            <a:ext cx="457200" cy="365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2962656" y="3657600"/>
            <a:ext cx="420624" cy="420624"/>
          </a:xfrm>
          <a:prstGeom prst="ellipse">
            <a:avLst/>
          </a:prstGeom>
          <a:solidFill>
            <a:srgbClr val="103157"/>
          </a:solidFill>
          <a:ln w="12700">
            <a:solidFill>
              <a:srgbClr val="103157"/>
            </a:solidFill>
            <a:prstDash val="solid"/>
          </a:ln>
        </p:spPr>
      </p:sp>
      <p:pic>
        <p:nvPicPr>
          <p:cNvPr id="36" name="Image 7" descr="Symbo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240" y="3758184"/>
            <a:ext cx="219456" cy="219456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3465576" y="3630168"/>
            <a:ext cx="1252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Geklärte Befugnisse</a:t>
            </a:r>
            <a:endParaRPr lang="en-US" sz="1000" dirty="0"/>
          </a:p>
        </p:txBody>
      </p:sp>
      <p:sp>
        <p:nvSpPr>
          <p:cNvPr id="38" name="Text 28"/>
          <p:cNvSpPr txBox="1"/>
          <p:nvPr/>
        </p:nvSpPr>
        <p:spPr>
          <a:xfrm>
            <a:off x="2962656" y="4206240"/>
            <a:ext cx="1673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entscheidet was, auch am Wochenende und ohne die üblichen Kanäle.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4928616" y="3429000"/>
            <a:ext cx="198424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0"/>
          <p:cNvSpPr/>
          <p:nvPr/>
        </p:nvSpPr>
        <p:spPr>
          <a:xfrm>
            <a:off x="5111496" y="3429000"/>
            <a:ext cx="457200" cy="365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084064" y="3657600"/>
            <a:ext cx="420624" cy="420624"/>
          </a:xfrm>
          <a:prstGeom prst="ellipse">
            <a:avLst/>
          </a:prstGeom>
          <a:solidFill>
            <a:srgbClr val="103157"/>
          </a:solidFill>
          <a:ln w="12700">
            <a:solidFill>
              <a:srgbClr val="103157"/>
            </a:solidFill>
            <a:prstDash val="solid"/>
          </a:ln>
        </p:spPr>
      </p:sp>
      <p:pic>
        <p:nvPicPr>
          <p:cNvPr id="42" name="Image 8" descr="Symbo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4648" y="3758184"/>
            <a:ext cx="219456" cy="21945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586984" y="3630168"/>
            <a:ext cx="1252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getesteter Plan</a:t>
            </a:r>
            <a:endParaRPr lang="en-US" sz="1000" dirty="0"/>
          </a:p>
        </p:txBody>
      </p:sp>
      <p:sp>
        <p:nvSpPr>
          <p:cNvPr id="44" name="Text 33"/>
          <p:cNvSpPr txBox="1"/>
          <p:nvPr/>
        </p:nvSpPr>
        <p:spPr>
          <a:xfrm>
            <a:off x="5084064" y="4206240"/>
            <a:ext cx="1673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einer Annahme wird eine geübte Fähigkeit. Oder Sie wissen genau, was im Plan fehlt.</a:t>
            </a:r>
            <a:endParaRPr lang="en-US" sz="900" dirty="0"/>
          </a:p>
        </p:txBody>
      </p:sp>
      <p:sp>
        <p:nvSpPr>
          <p:cNvPr id="45" name="Shape 34"/>
          <p:cNvSpPr/>
          <p:nvPr/>
        </p:nvSpPr>
        <p:spPr>
          <a:xfrm>
            <a:off x="0" y="4983480"/>
            <a:ext cx="7562088" cy="260604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685800" y="521208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425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ABLAUF DER ÜBUNG</a:t>
            </a:r>
            <a:endParaRPr lang="en-US" sz="900" dirty="0"/>
          </a:p>
        </p:txBody>
      </p:sp>
      <p:sp>
        <p:nvSpPr>
          <p:cNvPr id="47" name="Shape 36"/>
          <p:cNvSpPr/>
          <p:nvPr/>
        </p:nvSpPr>
        <p:spPr>
          <a:xfrm>
            <a:off x="1463040" y="5806440"/>
            <a:ext cx="4663440" cy="0"/>
          </a:xfrm>
          <a:prstGeom prst="line">
            <a:avLst/>
          </a:prstGeom>
          <a:noFill/>
          <a:ln w="12700">
            <a:solidFill>
              <a:srgbClr val="B7C3D1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1188720" y="5532120"/>
            <a:ext cx="548640" cy="548640"/>
          </a:xfrm>
          <a:prstGeom prst="ellipse">
            <a:avLst/>
          </a:prstGeom>
          <a:solidFill>
            <a:srgbClr val="103157"/>
          </a:solidFill>
          <a:ln w="19050">
            <a:solidFill>
              <a:srgbClr val="103157"/>
            </a:solidFill>
            <a:prstDash val="solid"/>
          </a:ln>
        </p:spPr>
      </p:sp>
      <p:pic>
        <p:nvPicPr>
          <p:cNvPr id="49" name="Image 9" descr="Symbo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35024" y="5678424"/>
            <a:ext cx="256032" cy="256032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731520" y="6190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Vorgespräch</a:t>
            </a:r>
            <a:endParaRPr lang="en-US" sz="1050" dirty="0"/>
          </a:p>
        </p:txBody>
      </p:sp>
      <p:sp>
        <p:nvSpPr>
          <p:cNvPr id="51" name="Text 39"/>
          <p:cNvSpPr txBox="1"/>
          <p:nvPr/>
        </p:nvSpPr>
        <p:spPr>
          <a:xfrm>
            <a:off x="740664" y="6409944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klären Teilnehmende, Rahmen und Schwerpunkt des Szenarios.</a:t>
            </a:r>
            <a:endParaRPr lang="en-US" sz="850" dirty="0"/>
          </a:p>
        </p:txBody>
      </p:sp>
      <p:sp>
        <p:nvSpPr>
          <p:cNvPr id="52" name="Shape 40"/>
          <p:cNvSpPr/>
          <p:nvPr/>
        </p:nvSpPr>
        <p:spPr>
          <a:xfrm>
            <a:off x="2743200" y="55321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03157"/>
            </a:solidFill>
            <a:prstDash val="solid"/>
          </a:ln>
        </p:spPr>
      </p:sp>
      <p:pic>
        <p:nvPicPr>
          <p:cNvPr id="53" name="Image 10" descr="Symbo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89504" y="5678424"/>
            <a:ext cx="256032" cy="256032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2286000" y="6190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Szenario</a:t>
            </a:r>
            <a:endParaRPr lang="en-US" sz="1050" dirty="0"/>
          </a:p>
        </p:txBody>
      </p:sp>
      <p:sp>
        <p:nvSpPr>
          <p:cNvPr id="55" name="Text 42"/>
          <p:cNvSpPr txBox="1"/>
          <p:nvPr/>
        </p:nvSpPr>
        <p:spPr>
          <a:xfrm>
            <a:off x="2295144" y="6409944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realistisches, fiktives Szenario entwickelt sich Schritt für Schritt. Ihre Führungsrunde entscheidet, wir moderieren.</a:t>
            </a:r>
            <a:endParaRPr lang="en-US" sz="850" dirty="0"/>
          </a:p>
        </p:txBody>
      </p:sp>
      <p:sp>
        <p:nvSpPr>
          <p:cNvPr id="56" name="Shape 43"/>
          <p:cNvSpPr/>
          <p:nvPr/>
        </p:nvSpPr>
        <p:spPr>
          <a:xfrm>
            <a:off x="4297680" y="55321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03157"/>
            </a:solidFill>
            <a:prstDash val="solid"/>
          </a:ln>
        </p:spPr>
      </p:sp>
      <p:pic>
        <p:nvPicPr>
          <p:cNvPr id="57" name="Image 11" descr="Symb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43984" y="5678424"/>
            <a:ext cx="256032" cy="256032"/>
          </a:xfrm>
          <a:prstGeom prst="rect">
            <a:avLst/>
          </a:prstGeom>
        </p:spPr>
      </p:pic>
      <p:sp>
        <p:nvSpPr>
          <p:cNvPr id="58" name="Text 44"/>
          <p:cNvSpPr txBox="1"/>
          <p:nvPr/>
        </p:nvSpPr>
        <p:spPr>
          <a:xfrm>
            <a:off x="3840480" y="6190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Auswertung</a:t>
            </a:r>
            <a:endParaRPr lang="en-US" sz="1050" dirty="0"/>
          </a:p>
        </p:txBody>
      </p:sp>
      <p:sp>
        <p:nvSpPr>
          <p:cNvPr id="59" name="Text 45"/>
          <p:cNvSpPr txBox="1"/>
          <p:nvPr/>
        </p:nvSpPr>
        <p:spPr>
          <a:xfrm>
            <a:off x="3849624" y="6409944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lief gut, wo fehlten Befugnisse, Informationen oder Kontakte?</a:t>
            </a:r>
            <a:endParaRPr lang="en-US" sz="850" dirty="0"/>
          </a:p>
        </p:txBody>
      </p:sp>
      <p:sp>
        <p:nvSpPr>
          <p:cNvPr id="60" name="Shape 46"/>
          <p:cNvSpPr/>
          <p:nvPr/>
        </p:nvSpPr>
        <p:spPr>
          <a:xfrm>
            <a:off x="5852160" y="55321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03157"/>
            </a:solidFill>
            <a:prstDash val="solid"/>
          </a:ln>
        </p:spPr>
      </p:sp>
      <p:pic>
        <p:nvPicPr>
          <p:cNvPr id="61" name="Image 12" descr="Symbo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98464" y="5678424"/>
            <a:ext cx="256032" cy="256032"/>
          </a:xfrm>
          <a:prstGeom prst="rect">
            <a:avLst/>
          </a:prstGeom>
        </p:spPr>
      </p:pic>
      <p:sp>
        <p:nvSpPr>
          <p:cNvPr id="62" name="Text 47"/>
          <p:cNvSpPr txBox="1"/>
          <p:nvPr/>
        </p:nvSpPr>
        <p:spPr>
          <a:xfrm>
            <a:off x="5394960" y="6190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Erkenntnisliste</a:t>
            </a:r>
            <a:endParaRPr lang="en-US" sz="1050" dirty="0"/>
          </a:p>
        </p:txBody>
      </p:sp>
      <p:sp>
        <p:nvSpPr>
          <p:cNvPr id="63" name="Text 48"/>
          <p:cNvSpPr txBox="1"/>
          <p:nvPr/>
        </p:nvSpPr>
        <p:spPr>
          <a:xfrm>
            <a:off x="5404104" y="6409944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Dokumentierte Erkenntnisse mit klaren Verantwortlichkeiten.</a:t>
            </a:r>
            <a:endParaRPr lang="en-US" sz="850" dirty="0"/>
          </a:p>
        </p:txBody>
      </p:sp>
      <p:sp>
        <p:nvSpPr>
          <p:cNvPr id="64" name="Text 49"/>
          <p:cNvSpPr txBox="1"/>
          <p:nvPr/>
        </p:nvSpPr>
        <p:spPr>
          <a:xfrm>
            <a:off x="685800" y="7269480"/>
            <a:ext cx="6190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3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moderierte Entscheidungsübung, keine Technik-Simulation. </a:t>
            </a:r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Ihren Systemen wird nichts getestet oder verändert.</a:t>
            </a:r>
            <a:endParaRPr lang="en-US" sz="900" dirty="0"/>
          </a:p>
        </p:txBody>
      </p:sp>
      <p:sp>
        <p:nvSpPr>
          <p:cNvPr id="65" name="Shape 50"/>
          <p:cNvSpPr/>
          <p:nvPr/>
        </p:nvSpPr>
        <p:spPr>
          <a:xfrm>
            <a:off x="0" y="7589520"/>
            <a:ext cx="7562088" cy="2148840"/>
          </a:xfrm>
          <a:prstGeom prst="rect">
            <a:avLst/>
          </a:prstGeom>
          <a:solidFill>
            <a:srgbClr val="071828"/>
          </a:solidFill>
          <a:ln w="12700">
            <a:solidFill>
              <a:srgbClr val="071828"/>
            </a:solidFill>
            <a:prstDash val="solid"/>
          </a:ln>
        </p:spPr>
      </p:sp>
      <p:sp>
        <p:nvSpPr>
          <p:cNvPr id="66" name="Shape 51"/>
          <p:cNvSpPr/>
          <p:nvPr/>
        </p:nvSpPr>
        <p:spPr>
          <a:xfrm>
            <a:off x="0" y="7589520"/>
            <a:ext cx="182880" cy="214884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85800" y="78638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Worauf Sie sich verlassen können</a:t>
            </a:r>
            <a:endParaRPr lang="en-US" sz="1500" dirty="0"/>
          </a:p>
        </p:txBody>
      </p:sp>
      <p:pic>
        <p:nvPicPr>
          <p:cNvPr id="68" name="Image 13" descr="Symbo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8293608"/>
            <a:ext cx="146304" cy="146304"/>
          </a:xfrm>
          <a:prstGeom prst="rect">
            <a:avLst/>
          </a:prstGeom>
        </p:spPr>
      </p:pic>
      <p:sp>
        <p:nvSpPr>
          <p:cNvPr id="69" name="Text 53"/>
          <p:cNvSpPr txBox="1"/>
          <p:nvPr/>
        </p:nvSpPr>
        <p:spPr>
          <a:xfrm>
            <a:off x="960120" y="82753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Getestet wird die Organisation, nicht die Firewall</a:t>
            </a:r>
            <a:endParaRPr lang="en-US" sz="950" dirty="0"/>
          </a:p>
        </p:txBody>
      </p:sp>
      <p:pic>
        <p:nvPicPr>
          <p:cNvPr id="70" name="Image 14" descr="Symbo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800" y="8631936"/>
            <a:ext cx="146304" cy="146304"/>
          </a:xfrm>
          <a:prstGeom prst="rect">
            <a:avLst/>
          </a:prstGeom>
        </p:spPr>
      </p:pic>
      <p:sp>
        <p:nvSpPr>
          <p:cNvPr id="71" name="Text 54"/>
          <p:cNvSpPr txBox="1"/>
          <p:nvPr/>
        </p:nvSpPr>
        <p:spPr>
          <a:xfrm>
            <a:off x="960120" y="86136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Realistisches, fiktives Szenario, zum Beispiel ein Ransomware-Angriff</a:t>
            </a:r>
            <a:endParaRPr lang="en-US" sz="950" dirty="0"/>
          </a:p>
        </p:txBody>
      </p:sp>
      <p:pic>
        <p:nvPicPr>
          <p:cNvPr id="72" name="Image 15" descr="Symbo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8970264"/>
            <a:ext cx="146304" cy="146304"/>
          </a:xfrm>
          <a:prstGeom prst="rect">
            <a:avLst/>
          </a:prstGeom>
        </p:spPr>
      </p:pic>
      <p:sp>
        <p:nvSpPr>
          <p:cNvPr id="73" name="Text 55"/>
          <p:cNvSpPr txBox="1"/>
          <p:nvPr/>
        </p:nvSpPr>
        <p:spPr>
          <a:xfrm>
            <a:off x="960120" y="895197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Vertraulich: Eine Vertraulichkeitsvereinbarung ist bei jeder Übung Standard</a:t>
            </a:r>
            <a:endParaRPr lang="en-US" sz="950" dirty="0"/>
          </a:p>
        </p:txBody>
      </p:sp>
      <p:pic>
        <p:nvPicPr>
          <p:cNvPr id="74" name="Image 16" descr="Symbol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9308592"/>
            <a:ext cx="146304" cy="146304"/>
          </a:xfrm>
          <a:prstGeom prst="rect">
            <a:avLst/>
          </a:prstGeom>
        </p:spPr>
      </p:pic>
      <p:sp>
        <p:nvSpPr>
          <p:cNvPr id="75" name="Text 56"/>
          <p:cNvSpPr txBox="1"/>
          <p:nvPr/>
        </p:nvSpPr>
        <p:spPr>
          <a:xfrm>
            <a:off x="960120" y="929030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Nachvollziehbar dokumentiert: eine Grundlage für Verwaltungsrat und Versicherer</a:t>
            </a:r>
            <a:endParaRPr lang="en-US" sz="950" dirty="0"/>
          </a:p>
        </p:txBody>
      </p:sp>
      <p:sp>
        <p:nvSpPr>
          <p:cNvPr id="76" name="Text 57"/>
          <p:cNvSpPr txBox="1"/>
          <p:nvPr/>
        </p:nvSpPr>
        <p:spPr>
          <a:xfrm>
            <a:off x="5074920" y="7882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½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Tag</a:t>
            </a:r>
            <a:endParaRPr lang="en-US" sz="3600" dirty="0"/>
          </a:p>
        </p:txBody>
      </p:sp>
      <p:sp>
        <p:nvSpPr>
          <p:cNvPr id="77" name="Text 58"/>
          <p:cNvSpPr txBox="1"/>
          <p:nvPr/>
        </p:nvSpPr>
        <p:spPr>
          <a:xfrm>
            <a:off x="5074920" y="8549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Ihrer Führungsrunde, davon rund 90 Minuten Übung im Szenario. Am Ende steht eine dokumentierte Erkenntnisliste.</a:t>
            </a:r>
            <a:endParaRPr lang="en-US" sz="900" dirty="0"/>
          </a:p>
        </p:txBody>
      </p:sp>
      <p:sp>
        <p:nvSpPr>
          <p:cNvPr id="78" name="Shape 59"/>
          <p:cNvSpPr/>
          <p:nvPr/>
        </p:nvSpPr>
        <p:spPr>
          <a:xfrm>
            <a:off x="0" y="9738360"/>
            <a:ext cx="7562088" cy="3200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79" name="Shape 60"/>
          <p:cNvSpPr/>
          <p:nvPr/>
        </p:nvSpPr>
        <p:spPr>
          <a:xfrm>
            <a:off x="0" y="9770364"/>
            <a:ext cx="7562088" cy="918972"/>
          </a:xfrm>
          <a:prstGeom prst="rect">
            <a:avLst/>
          </a:prstGeom>
          <a:solidFill>
            <a:srgbClr val="071828"/>
          </a:solidFill>
          <a:ln w="12700">
            <a:solidFill>
              <a:srgbClr val="071828"/>
            </a:solidFill>
            <a:prstDash val="solid"/>
          </a:ln>
        </p:spPr>
      </p:sp>
      <p:pic>
        <p:nvPicPr>
          <p:cNvPr id="80" name="Image 17" descr="Symbol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5800" y="10131552"/>
            <a:ext cx="164592" cy="164592"/>
          </a:xfrm>
          <a:prstGeom prst="rect">
            <a:avLst/>
          </a:prstGeom>
        </p:spPr>
      </p:pic>
      <p:sp>
        <p:nvSpPr>
          <p:cNvPr id="81" name="Text 61"/>
          <p:cNvSpPr txBox="1"/>
          <p:nvPr/>
        </p:nvSpPr>
        <p:spPr>
          <a:xfrm>
            <a:off x="941832" y="101132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Erlenstrasse 4B, CH-6343 Rotkreuz</a:t>
            </a:r>
            <a:endParaRPr lang="en-US" sz="1000" dirty="0"/>
          </a:p>
        </p:txBody>
      </p:sp>
      <p:pic>
        <p:nvPicPr>
          <p:cNvPr id="82" name="Image 18" descr="Symbol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49040" y="10131552"/>
            <a:ext cx="164592" cy="164592"/>
          </a:xfrm>
          <a:prstGeom prst="rect">
            <a:avLst/>
          </a:prstGeom>
        </p:spPr>
      </p:pic>
      <p:sp>
        <p:nvSpPr>
          <p:cNvPr id="83" name="Text 62"/>
          <p:cNvSpPr txBox="1"/>
          <p:nvPr/>
        </p:nvSpPr>
        <p:spPr>
          <a:xfrm>
            <a:off x="4005072" y="101132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www.cyspa.ch</a:t>
            </a:r>
            <a:endParaRPr lang="en-US" sz="1000" dirty="0"/>
          </a:p>
        </p:txBody>
      </p:sp>
      <p:pic>
        <p:nvPicPr>
          <p:cNvPr id="84" name="Image 19" descr="Symbo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532120" y="10131552"/>
            <a:ext cx="164592" cy="164592"/>
          </a:xfrm>
          <a:prstGeom prst="rect">
            <a:avLst/>
          </a:prstGeom>
        </p:spPr>
      </p:pic>
      <p:sp>
        <p:nvSpPr>
          <p:cNvPr id="85" name="Text 63"/>
          <p:cNvSpPr txBox="1"/>
          <p:nvPr/>
        </p:nvSpPr>
        <p:spPr>
          <a:xfrm>
            <a:off x="5788152" y="101132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info@cyspa.ch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CYSPA</a:t>
            </a:r>
            <a:pPr indent="0" marL="0">
              <a:buNone/>
            </a:pPr>
            <a:r>
              <a:rPr lang="en-US" sz="2400" b="1" spc="800" kern="0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.ch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291840" y="411480"/>
            <a:ext cx="3584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400" kern="0" dirty="0">
                <a:solidFill>
                  <a:srgbClr val="425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 SECURITY PARTNERS</a:t>
            </a:r>
            <a:endParaRPr lang="en-US" sz="800" dirty="0"/>
          </a:p>
        </p:txBody>
      </p:sp>
      <p:pic>
        <p:nvPicPr>
          <p:cNvPr id="4" name="Image 0" descr="Hintergrund Navy mit feinem Ra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8680"/>
            <a:ext cx="7562088" cy="2331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868680"/>
            <a:ext cx="182880" cy="23317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197864"/>
            <a:ext cx="347472" cy="2743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11430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FORMAT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3716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halber Tag.</a:t>
            </a:r>
            <a:endParaRPr lang="en-US" sz="2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dokumentierte</a:t>
            </a:r>
            <a:endParaRPr lang="en-US" sz="2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Erkenntnisliste.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3957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wertvollsten Erkenntnisse aus Übungen sind fast immer organisatorisch, nicht technisch. Deshalb sitzen die Personen am Tisch, die im Ernstfall entscheiden. Einen fertigen Notfallplan brauchen Sie nicht: Gibt es keinen, zeigt die Übung, welche Entscheide ein Plan regeln muss.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00600" y="1216152"/>
            <a:ext cx="2103120" cy="1508760"/>
          </a:xfrm>
          <a:prstGeom prst="roundRect">
            <a:avLst>
              <a:gd name="adj" fmla="val 3030"/>
            </a:avLst>
          </a:prstGeom>
          <a:solidFill>
            <a:srgbClr val="143762"/>
          </a:solidFill>
          <a:ln w="12700">
            <a:solidFill>
              <a:srgbClr val="2B4C78"/>
            </a:solidFill>
            <a:prstDash val="solid"/>
          </a:ln>
        </p:spPr>
      </p:sp>
      <p:pic>
        <p:nvPicPr>
          <p:cNvPr id="11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399032"/>
            <a:ext cx="137160" cy="1371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93792" y="1371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Moderierte Entscheidungsübung</a:t>
            </a:r>
            <a:endParaRPr lang="en-US" sz="950" dirty="0"/>
          </a:p>
        </p:txBody>
      </p:sp>
      <p:pic>
        <p:nvPicPr>
          <p:cNvPr id="13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801368"/>
            <a:ext cx="137160" cy="1371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193792" y="1773936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Technik-Simulation</a:t>
            </a:r>
            <a:endParaRPr lang="en-US" sz="950" dirty="0"/>
          </a:p>
        </p:txBody>
      </p:sp>
      <p:pic>
        <p:nvPicPr>
          <p:cNvPr id="15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075688"/>
            <a:ext cx="137160" cy="1371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193792" y="2048256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Realistisches, fiktives Szenario</a:t>
            </a:r>
            <a:endParaRPr lang="en-US" sz="950" dirty="0"/>
          </a:p>
        </p:txBody>
      </p:sp>
      <p:pic>
        <p:nvPicPr>
          <p:cNvPr id="17" name="Image 4" descr="Symb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5192" y="2478024"/>
            <a:ext cx="137160" cy="1371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93792" y="245059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Klare Verantwortlichkeiten</a:t>
            </a:r>
            <a:endParaRPr lang="en-US" sz="950" dirty="0"/>
          </a:p>
        </p:txBody>
      </p:sp>
      <p:sp>
        <p:nvSpPr>
          <p:cNvPr id="19" name="Shape 12"/>
          <p:cNvSpPr/>
          <p:nvPr/>
        </p:nvSpPr>
        <p:spPr>
          <a:xfrm>
            <a:off x="685800" y="3337560"/>
            <a:ext cx="1984248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685800" y="3337560"/>
            <a:ext cx="1984248" cy="365760"/>
          </a:xfrm>
          <a:prstGeom prst="rect">
            <a:avLst/>
          </a:prstGeom>
          <a:solidFill>
            <a:srgbClr val="F8F8F8"/>
          </a:solidFill>
          <a:ln w="9525">
            <a:solidFill>
              <a:srgbClr val="E6E6E6"/>
            </a:solidFill>
            <a:prstDash val="solid"/>
          </a:ln>
        </p:spPr>
      </p:sp>
      <p:pic>
        <p:nvPicPr>
          <p:cNvPr id="21" name="Image 5" descr="Symb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3429000"/>
            <a:ext cx="182880" cy="18288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124712" y="3429000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DAUER</a:t>
            </a:r>
            <a:endParaRPr lang="en-US" sz="950" dirty="0"/>
          </a:p>
        </p:txBody>
      </p:sp>
      <p:sp>
        <p:nvSpPr>
          <p:cNvPr id="23" name="Text 15"/>
          <p:cNvSpPr txBox="1"/>
          <p:nvPr/>
        </p:nvSpPr>
        <p:spPr>
          <a:xfrm>
            <a:off x="850392" y="384048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halber Tag</a:t>
            </a:r>
            <a:endParaRPr lang="en-US" sz="1100" dirty="0"/>
          </a:p>
        </p:txBody>
      </p:sp>
      <p:sp>
        <p:nvSpPr>
          <p:cNvPr id="24" name="Text 16"/>
          <p:cNvSpPr txBox="1"/>
          <p:nvPr/>
        </p:nvSpPr>
        <p:spPr>
          <a:xfrm>
            <a:off x="850392" y="420624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rund 90 Minuten Übung im Szenario.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2807208" y="3337560"/>
            <a:ext cx="1984248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2807208" y="3337560"/>
            <a:ext cx="1984248" cy="365760"/>
          </a:xfrm>
          <a:prstGeom prst="rect">
            <a:avLst/>
          </a:prstGeom>
          <a:solidFill>
            <a:srgbClr val="425B76"/>
          </a:solidFill>
          <a:ln w="9525">
            <a:solidFill>
              <a:srgbClr val="425B76"/>
            </a:solidFill>
            <a:prstDash val="solid"/>
          </a:ln>
        </p:spPr>
      </p:sp>
      <p:pic>
        <p:nvPicPr>
          <p:cNvPr id="27" name="Image 6" descr="Symbo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1800" y="3429000"/>
            <a:ext cx="182880" cy="18288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3246120" y="3429000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TEILNEHMENDE</a:t>
            </a:r>
            <a:endParaRPr lang="en-US" sz="950" dirty="0"/>
          </a:p>
        </p:txBody>
      </p:sp>
      <p:sp>
        <p:nvSpPr>
          <p:cNvPr id="29" name="Text 20"/>
          <p:cNvSpPr txBox="1"/>
          <p:nvPr/>
        </p:nvSpPr>
        <p:spPr>
          <a:xfrm>
            <a:off x="2971800" y="384048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Ihre Führungsrunde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2971800" y="420624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Geschäftsleitung, dazu je nach Organisation IT-Verantwortliche und Kommunikation. Bis 10 Personen.</a:t>
            </a:r>
            <a:endParaRPr lang="en-US" sz="850" dirty="0"/>
          </a:p>
        </p:txBody>
      </p:sp>
      <p:sp>
        <p:nvSpPr>
          <p:cNvPr id="31" name="Shape 22"/>
          <p:cNvSpPr/>
          <p:nvPr/>
        </p:nvSpPr>
        <p:spPr>
          <a:xfrm>
            <a:off x="4928616" y="3337560"/>
            <a:ext cx="1984248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3"/>
          <p:cNvSpPr/>
          <p:nvPr/>
        </p:nvSpPr>
        <p:spPr>
          <a:xfrm>
            <a:off x="4928616" y="3337560"/>
            <a:ext cx="1984248" cy="365760"/>
          </a:xfrm>
          <a:prstGeom prst="rect">
            <a:avLst/>
          </a:prstGeom>
          <a:solidFill>
            <a:srgbClr val="F8F8F8"/>
          </a:solidFill>
          <a:ln w="9525">
            <a:solidFill>
              <a:srgbClr val="E6E6E6"/>
            </a:solidFill>
            <a:prstDash val="solid"/>
          </a:ln>
        </p:spPr>
      </p:sp>
      <p:pic>
        <p:nvPicPr>
          <p:cNvPr id="33" name="Image 7" descr="Symbo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3208" y="3429000"/>
            <a:ext cx="182880" cy="18288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367528" y="3429000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</a:t>
            </a:r>
            <a:endParaRPr lang="en-US" sz="950" dirty="0"/>
          </a:p>
        </p:txBody>
      </p:sp>
      <p:sp>
        <p:nvSpPr>
          <p:cNvPr id="35" name="Text 25"/>
          <p:cNvSpPr txBox="1"/>
          <p:nvPr/>
        </p:nvSpPr>
        <p:spPr>
          <a:xfrm>
            <a:off x="5093208" y="384048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Dokumentierte Erkenntnisliste</a:t>
            </a:r>
            <a:endParaRPr 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5093208" y="420624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klaren Verantwortlichkeiten, innert 5 Arbeitstagen nach der Übung.</a:t>
            </a:r>
            <a:endParaRPr lang="en-US" sz="850" dirty="0"/>
          </a:p>
        </p:txBody>
      </p:sp>
      <p:sp>
        <p:nvSpPr>
          <p:cNvPr id="37" name="Text 27"/>
          <p:cNvSpPr txBox="1"/>
          <p:nvPr/>
        </p:nvSpPr>
        <p:spPr>
          <a:xfrm>
            <a:off x="685800" y="51023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425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TYPISCHERWEISE SICHTBAR WIRD</a:t>
            </a:r>
            <a:endParaRPr lang="en-US" sz="900" dirty="0"/>
          </a:p>
        </p:txBody>
      </p:sp>
      <p:sp>
        <p:nvSpPr>
          <p:cNvPr id="38" name="Shape 28"/>
          <p:cNvSpPr/>
          <p:nvPr/>
        </p:nvSpPr>
        <p:spPr>
          <a:xfrm>
            <a:off x="685800" y="5330952"/>
            <a:ext cx="1481328" cy="1298448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685800" y="5330952"/>
            <a:ext cx="41148" cy="1298448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841248" y="545896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Unklare Befugnisse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841248" y="5879592"/>
            <a:ext cx="1225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darf Systeme vom Netz nehmen, auch wenn damit das Geschäft steht?</a:t>
            </a:r>
            <a:endParaRPr lang="en-US" sz="800" dirty="0"/>
          </a:p>
        </p:txBody>
      </p:sp>
      <p:sp>
        <p:nvSpPr>
          <p:cNvPr id="42" name="Shape 32"/>
          <p:cNvSpPr/>
          <p:nvPr/>
        </p:nvSpPr>
        <p:spPr>
          <a:xfrm>
            <a:off x="2258568" y="5330952"/>
            <a:ext cx="1481328" cy="1298448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2258568" y="5330952"/>
            <a:ext cx="41148" cy="1298448"/>
          </a:xfrm>
          <a:prstGeom prst="rect">
            <a:avLst/>
          </a:prstGeom>
          <a:solidFill>
            <a:srgbClr val="103157"/>
          </a:solidFill>
          <a:ln w="12700">
            <a:solidFill>
              <a:srgbClr val="103157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2414016" y="545896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 ohne die üblichen Kanäle</a:t>
            </a:r>
            <a:endParaRPr lang="en-US" sz="950" dirty="0"/>
          </a:p>
        </p:txBody>
      </p:sp>
      <p:sp>
        <p:nvSpPr>
          <p:cNvPr id="45" name="Text 35"/>
          <p:cNvSpPr txBox="1"/>
          <p:nvPr/>
        </p:nvSpPr>
        <p:spPr>
          <a:xfrm>
            <a:off x="2414016" y="5879592"/>
            <a:ext cx="1225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erreichen Sie Mitarbeitende und Kunden, wenn E-Mail und Chat betroffen sind?</a:t>
            </a:r>
            <a:endParaRPr lang="en-US" sz="800" dirty="0"/>
          </a:p>
        </p:txBody>
      </p:sp>
      <p:sp>
        <p:nvSpPr>
          <p:cNvPr id="46" name="Shape 36"/>
          <p:cNvSpPr/>
          <p:nvPr/>
        </p:nvSpPr>
        <p:spPr>
          <a:xfrm>
            <a:off x="3831336" y="5330952"/>
            <a:ext cx="1481328" cy="1298448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3831336" y="5330952"/>
            <a:ext cx="41148" cy="1298448"/>
          </a:xfrm>
          <a:prstGeom prst="rect">
            <a:avLst/>
          </a:prstGeom>
          <a:solidFill>
            <a:srgbClr val="103157"/>
          </a:solidFill>
          <a:ln w="12700">
            <a:solidFill>
              <a:srgbClr val="103157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3986784" y="545896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Meldefristen unter Zeitdruck</a:t>
            </a:r>
            <a:endParaRPr lang="en-US" sz="950" dirty="0"/>
          </a:p>
        </p:txBody>
      </p:sp>
      <p:sp>
        <p:nvSpPr>
          <p:cNvPr id="49" name="Text 39"/>
          <p:cNvSpPr txBox="1"/>
          <p:nvPr/>
        </p:nvSpPr>
        <p:spPr>
          <a:xfrm>
            <a:off x="3986784" y="5879592"/>
            <a:ext cx="1225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Datenschutzbehörde, Vertragspartner, allenfalls Aufsicht oder das Bundesamt für Cybersicherheit (BACS): Wer meldet was bis wann?</a:t>
            </a:r>
            <a:endParaRPr lang="en-US" sz="800" dirty="0"/>
          </a:p>
        </p:txBody>
      </p:sp>
      <p:sp>
        <p:nvSpPr>
          <p:cNvPr id="50" name="Shape 40"/>
          <p:cNvSpPr/>
          <p:nvPr/>
        </p:nvSpPr>
        <p:spPr>
          <a:xfrm>
            <a:off x="5404104" y="5330952"/>
            <a:ext cx="1481328" cy="1298448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5404104" y="5330952"/>
            <a:ext cx="41148" cy="1298448"/>
          </a:xfrm>
          <a:prstGeom prst="rect">
            <a:avLst/>
          </a:prstGeom>
          <a:solidFill>
            <a:srgbClr val="103157"/>
          </a:solidFill>
          <a:ln w="12700">
            <a:solidFill>
              <a:srgbClr val="103157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5559552" y="545896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Dienstleisterfrage</a:t>
            </a:r>
            <a:endParaRPr lang="en-US" sz="950" dirty="0"/>
          </a:p>
        </p:txBody>
      </p:sp>
      <p:sp>
        <p:nvSpPr>
          <p:cNvPr id="53" name="Text 43"/>
          <p:cNvSpPr txBox="1"/>
          <p:nvPr/>
        </p:nvSpPr>
        <p:spPr>
          <a:xfrm>
            <a:off x="5559552" y="5879592"/>
            <a:ext cx="1225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der erste Anruf? Gilt der Support-Vertrag auch am Wochenende?</a:t>
            </a:r>
            <a:endParaRPr lang="en-US" sz="800" dirty="0"/>
          </a:p>
        </p:txBody>
      </p:sp>
      <p:sp>
        <p:nvSpPr>
          <p:cNvPr id="54" name="Text 44"/>
          <p:cNvSpPr txBox="1"/>
          <p:nvPr/>
        </p:nvSpPr>
        <p:spPr>
          <a:xfrm>
            <a:off x="685800" y="676656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425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HÄUFIGE FRAGEN</a:t>
            </a:r>
            <a:endParaRPr lang="en-US" sz="900" dirty="0"/>
          </a:p>
        </p:txBody>
      </p:sp>
      <p:sp>
        <p:nvSpPr>
          <p:cNvPr id="55" name="Shape 45"/>
          <p:cNvSpPr/>
          <p:nvPr/>
        </p:nvSpPr>
        <p:spPr>
          <a:xfrm>
            <a:off x="685800" y="7068312"/>
            <a:ext cx="54864" cy="54864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822960" y="7004304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 das ein technischer Test unserer IT?</a:t>
            </a:r>
            <a:endParaRPr lang="en-US" sz="900" dirty="0"/>
          </a:p>
        </p:txBody>
      </p:sp>
      <p:sp>
        <p:nvSpPr>
          <p:cNvPr id="57" name="Text 47"/>
          <p:cNvSpPr txBox="1"/>
          <p:nvPr/>
        </p:nvSpPr>
        <p:spPr>
          <a:xfrm>
            <a:off x="822960" y="7205472"/>
            <a:ext cx="29260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 Es wird nichts an Ihren Systemen getestet oder verändert. Die Übung prüft Entscheidungswege, Zuständigkeiten und Kommunikation.</a:t>
            </a:r>
            <a:endParaRPr lang="en-US" sz="800" dirty="0"/>
          </a:p>
        </p:txBody>
      </p:sp>
      <p:sp>
        <p:nvSpPr>
          <p:cNvPr id="58" name="Shape 48"/>
          <p:cNvSpPr/>
          <p:nvPr/>
        </p:nvSpPr>
        <p:spPr>
          <a:xfrm>
            <a:off x="685800" y="7772400"/>
            <a:ext cx="54864" cy="54864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822960" y="770839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Welches Szenario wird geübt?</a:t>
            </a:r>
            <a:endParaRPr lang="en-US" sz="900" dirty="0"/>
          </a:p>
        </p:txBody>
      </p:sp>
      <p:sp>
        <p:nvSpPr>
          <p:cNvPr id="60" name="Text 50"/>
          <p:cNvSpPr txBox="1"/>
          <p:nvPr/>
        </p:nvSpPr>
        <p:spPr>
          <a:xfrm>
            <a:off x="822960" y="7909560"/>
            <a:ext cx="29260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realistisches, fiktives Szenario, zum Beispiel ein Ransomware-Angriff. Das Szenario wird im Vorgespräch auf Ihre Organisation zugeschnitten.</a:t>
            </a:r>
            <a:endParaRPr lang="en-US" sz="800" dirty="0"/>
          </a:p>
        </p:txBody>
      </p:sp>
      <p:sp>
        <p:nvSpPr>
          <p:cNvPr id="61" name="Shape 51"/>
          <p:cNvSpPr/>
          <p:nvPr/>
        </p:nvSpPr>
        <p:spPr>
          <a:xfrm>
            <a:off x="685800" y="8476488"/>
            <a:ext cx="54864" cy="54864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822960" y="8412480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Beraten Sie uns rechtlich zu Meldepflichten?</a:t>
            </a:r>
            <a:endParaRPr lang="en-US" sz="900" dirty="0"/>
          </a:p>
        </p:txBody>
      </p:sp>
      <p:sp>
        <p:nvSpPr>
          <p:cNvPr id="63" name="Text 53"/>
          <p:cNvSpPr txBox="1"/>
          <p:nvPr/>
        </p:nvSpPr>
        <p:spPr>
          <a:xfrm>
            <a:off x="822960" y="8613648"/>
            <a:ext cx="2926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 Wir ordnen Meldepflichten im Szenario allgemein ein. Für Ihren Einzelfall ziehen Sie Ihre Rechtsberatung bei.</a:t>
            </a:r>
            <a:endParaRPr lang="en-US" sz="800" dirty="0"/>
          </a:p>
        </p:txBody>
      </p:sp>
      <p:sp>
        <p:nvSpPr>
          <p:cNvPr id="64" name="Shape 54"/>
          <p:cNvSpPr/>
          <p:nvPr/>
        </p:nvSpPr>
        <p:spPr>
          <a:xfrm>
            <a:off x="3886200" y="7068312"/>
            <a:ext cx="54864" cy="54864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65" name="Text 55"/>
          <p:cNvSpPr txBox="1"/>
          <p:nvPr/>
        </p:nvSpPr>
        <p:spPr>
          <a:xfrm>
            <a:off x="4023360" y="7004304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findet die Übung statt?</a:t>
            </a:r>
            <a:endParaRPr lang="en-US" sz="900" dirty="0"/>
          </a:p>
        </p:txBody>
      </p:sp>
      <p:sp>
        <p:nvSpPr>
          <p:cNvPr id="66" name="Text 56"/>
          <p:cNvSpPr txBox="1"/>
          <p:nvPr/>
        </p:nvSpPr>
        <p:spPr>
          <a:xfrm>
            <a:off x="4023360" y="7205472"/>
            <a:ext cx="292608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Ihnen vor Ort.</a:t>
            </a:r>
            <a:endParaRPr lang="en-US" sz="800" dirty="0"/>
          </a:p>
        </p:txBody>
      </p:sp>
      <p:sp>
        <p:nvSpPr>
          <p:cNvPr id="67" name="Shape 57"/>
          <p:cNvSpPr/>
          <p:nvPr/>
        </p:nvSpPr>
        <p:spPr>
          <a:xfrm>
            <a:off x="3886200" y="7772400"/>
            <a:ext cx="54864" cy="54864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4023360" y="770839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vertraulich ist das?</a:t>
            </a:r>
            <a:endParaRPr lang="en-US" sz="900" dirty="0"/>
          </a:p>
        </p:txBody>
      </p:sp>
      <p:sp>
        <p:nvSpPr>
          <p:cNvPr id="69" name="Text 59"/>
          <p:cNvSpPr txBox="1"/>
          <p:nvPr/>
        </p:nvSpPr>
        <p:spPr>
          <a:xfrm>
            <a:off x="4023360" y="7909560"/>
            <a:ext cx="2926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in der Übung besprochen wird, bleibt vertraulich. Eine Vertraulichkeitsvereinbarung ist bei jeder Übung Standard.</a:t>
            </a:r>
            <a:endParaRPr lang="en-US" sz="800" dirty="0"/>
          </a:p>
        </p:txBody>
      </p:sp>
      <p:sp>
        <p:nvSpPr>
          <p:cNvPr id="70" name="Shape 60"/>
          <p:cNvSpPr/>
          <p:nvPr/>
        </p:nvSpPr>
        <p:spPr>
          <a:xfrm>
            <a:off x="3886200" y="8476488"/>
            <a:ext cx="54864" cy="54864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4023360" y="8412480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031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kostet die Übung?</a:t>
            </a:r>
            <a:endParaRPr lang="en-US" sz="900" dirty="0"/>
          </a:p>
        </p:txBody>
      </p:sp>
      <p:sp>
        <p:nvSpPr>
          <p:cNvPr id="72" name="Text 62"/>
          <p:cNvSpPr txBox="1"/>
          <p:nvPr/>
        </p:nvSpPr>
        <p:spPr>
          <a:xfrm>
            <a:off x="4023360" y="8613648"/>
            <a:ext cx="292608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dem Vorgespräch erhalten Sie eine Offerte.</a:t>
            </a:r>
            <a:endParaRPr lang="en-US" sz="800" dirty="0"/>
          </a:p>
        </p:txBody>
      </p:sp>
      <p:sp>
        <p:nvSpPr>
          <p:cNvPr id="73" name="Shape 63"/>
          <p:cNvSpPr/>
          <p:nvPr/>
        </p:nvSpPr>
        <p:spPr>
          <a:xfrm>
            <a:off x="0" y="9052560"/>
            <a:ext cx="7562088" cy="1636776"/>
          </a:xfrm>
          <a:prstGeom prst="rect">
            <a:avLst/>
          </a:prstGeom>
          <a:solidFill>
            <a:srgbClr val="071828"/>
          </a:solidFill>
          <a:ln w="12700">
            <a:solidFill>
              <a:srgbClr val="071828"/>
            </a:solidFill>
            <a:prstDash val="solid"/>
          </a:ln>
        </p:spPr>
      </p:sp>
      <p:sp>
        <p:nvSpPr>
          <p:cNvPr id="74" name="Shape 64"/>
          <p:cNvSpPr/>
          <p:nvPr/>
        </p:nvSpPr>
        <p:spPr>
          <a:xfrm>
            <a:off x="0" y="9052560"/>
            <a:ext cx="182880" cy="16367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685800" y="9272016"/>
            <a:ext cx="347472" cy="2743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1188720" y="92171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NÄCHSTER SCHRITT</a:t>
            </a:r>
            <a:endParaRPr lang="en-US" sz="900" dirty="0"/>
          </a:p>
        </p:txBody>
      </p:sp>
      <p:sp>
        <p:nvSpPr>
          <p:cNvPr id="77" name="Text 67"/>
          <p:cNvSpPr txBox="1"/>
          <p:nvPr/>
        </p:nvSpPr>
        <p:spPr>
          <a:xfrm>
            <a:off x="685800" y="941832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Gespräch </a:t>
            </a:r>
            <a:pPr indent="0" marL="0">
              <a:buNone/>
            </a:pPr>
            <a:r>
              <a:rPr lang="en-US" sz="20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vereinbaren.</a:t>
            </a:r>
            <a:endParaRPr lang="en-US" sz="2000" dirty="0"/>
          </a:p>
        </p:txBody>
      </p:sp>
      <p:sp>
        <p:nvSpPr>
          <p:cNvPr id="78" name="Text 68"/>
          <p:cNvSpPr txBox="1"/>
          <p:nvPr/>
        </p:nvSpPr>
        <p:spPr>
          <a:xfrm>
            <a:off x="685800" y="97840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einem kurzen Gespräch klären wir, ob eine Tabletop-Übung für Sie jetzt der richtige Schritt ist und wie sie bei Ihnen aussehen würde. Unverbindlich.</a:t>
            </a:r>
            <a:endParaRPr lang="en-US" sz="850" dirty="0"/>
          </a:p>
        </p:txBody>
      </p:sp>
      <p:pic>
        <p:nvPicPr>
          <p:cNvPr id="79" name="Image 8" descr="Symbo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10177272"/>
            <a:ext cx="137160" cy="137160"/>
          </a:xfrm>
          <a:prstGeom prst="rect">
            <a:avLst/>
          </a:prstGeom>
        </p:spPr>
      </p:pic>
      <p:sp>
        <p:nvSpPr>
          <p:cNvPr id="80" name="Text 69"/>
          <p:cNvSpPr txBox="1"/>
          <p:nvPr/>
        </p:nvSpPr>
        <p:spPr>
          <a:xfrm>
            <a:off x="896112" y="1016812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www.cyspa.ch/tabletop</a:t>
            </a:r>
            <a:endParaRPr lang="en-US" sz="900" dirty="0"/>
          </a:p>
        </p:txBody>
      </p:sp>
      <p:pic>
        <p:nvPicPr>
          <p:cNvPr id="81" name="Image 9" descr="Symbo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14600" y="10177272"/>
            <a:ext cx="137160" cy="137160"/>
          </a:xfrm>
          <a:prstGeom prst="rect">
            <a:avLst/>
          </a:prstGeom>
        </p:spPr>
      </p:pic>
      <p:sp>
        <p:nvSpPr>
          <p:cNvPr id="82" name="Text 70"/>
          <p:cNvSpPr txBox="1"/>
          <p:nvPr/>
        </p:nvSpPr>
        <p:spPr>
          <a:xfrm>
            <a:off x="2724912" y="1016812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info@cyspa.ch</a:t>
            </a:r>
            <a:endParaRPr lang="en-US" sz="900" dirty="0"/>
          </a:p>
        </p:txBody>
      </p:sp>
      <p:pic>
        <p:nvPicPr>
          <p:cNvPr id="83" name="Image 10" descr="Symbo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10396728"/>
            <a:ext cx="137160" cy="137160"/>
          </a:xfrm>
          <a:prstGeom prst="rect">
            <a:avLst/>
          </a:prstGeom>
        </p:spPr>
      </p:pic>
      <p:sp>
        <p:nvSpPr>
          <p:cNvPr id="84" name="Text 71"/>
          <p:cNvSpPr txBox="1"/>
          <p:nvPr/>
        </p:nvSpPr>
        <p:spPr>
          <a:xfrm>
            <a:off x="896112" y="1038758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+41 41 521 61 61</a:t>
            </a:r>
            <a:endParaRPr lang="en-US" sz="900" dirty="0"/>
          </a:p>
        </p:txBody>
      </p:sp>
      <p:pic>
        <p:nvPicPr>
          <p:cNvPr id="85" name="Image 11" descr="Symb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14600" y="10396728"/>
            <a:ext cx="137160" cy="137160"/>
          </a:xfrm>
          <a:prstGeom prst="rect">
            <a:avLst/>
          </a:prstGeom>
        </p:spPr>
      </p:pic>
      <p:sp>
        <p:nvSpPr>
          <p:cNvPr id="86" name="Text 72"/>
          <p:cNvSpPr txBox="1"/>
          <p:nvPr/>
        </p:nvSpPr>
        <p:spPr>
          <a:xfrm>
            <a:off x="2724912" y="1038758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Erlenstrasse 4B, CH-6343 Rotkreuz</a:t>
            </a:r>
            <a:endParaRPr lang="en-US" sz="900" dirty="0"/>
          </a:p>
        </p:txBody>
      </p:sp>
      <p:sp>
        <p:nvSpPr>
          <p:cNvPr id="87" name="Shape 73"/>
          <p:cNvSpPr/>
          <p:nvPr/>
        </p:nvSpPr>
        <p:spPr>
          <a:xfrm>
            <a:off x="5120640" y="9253728"/>
            <a:ext cx="1783080" cy="1188720"/>
          </a:xfrm>
          <a:prstGeom prst="rect">
            <a:avLst/>
          </a:prstGeom>
          <a:solidFill>
            <a:srgbClr val="071828"/>
          </a:solidFill>
          <a:ln w="9525">
            <a:solidFill>
              <a:srgbClr val="C9D3E0"/>
            </a:solidFill>
            <a:prstDash val="dash"/>
          </a:ln>
        </p:spPr>
      </p:sp>
      <p:pic>
        <p:nvPicPr>
          <p:cNvPr id="88" name="Image 12" descr="Symbo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4728" y="9400032"/>
            <a:ext cx="365760" cy="365760"/>
          </a:xfrm>
          <a:prstGeom prst="rect">
            <a:avLst/>
          </a:prstGeom>
        </p:spPr>
      </p:pic>
      <p:sp>
        <p:nvSpPr>
          <p:cNvPr id="89" name="Text 74"/>
          <p:cNvSpPr txBox="1"/>
          <p:nvPr/>
        </p:nvSpPr>
        <p:spPr>
          <a:xfrm>
            <a:off x="5212080" y="98572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[PLATZHALTER: QR-Code auf /tabletop, erst nach Livegang]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CYSPA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CYSPA Flyer Tabletop-Übung</dc:title>
  <dc:subject>PptxGenJS Presentation</dc:subject>
  <dc:creator>PptxGenJS</dc:creator>
  <cp:lastModifiedBy>PptxGenJS</cp:lastModifiedBy>
  <cp:revision>1</cp:revision>
  <dcterms:created xsi:type="dcterms:W3CDTF">2026-09-28T05:44:08Z</dcterms:created>
  <dcterms:modified xsi:type="dcterms:W3CDTF">2026-09-28T05:44:08Z</dcterms:modified>
</cp:coreProperties>
</file>